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32749df0-a178-a72a-4cbf-234fac18d815}">
          <p14:sldIdLst>
            <p14:sldId id="256"/>
          </p14:sldIdLst>
        </p14:section>
        <p14:section name="Le due gambe" id="{9be057b0-ea6a-8435-4156-b52af78efe30}">
          <p14:sldIdLst>
            <p14:sldId id="257"/>
          </p14:sldIdLst>
        </p14:section>
        <p14:section name="Il problema" id="{c8332b58-0a39-58e4-8c13-0a0095b8814d}">
          <p14:sldIdLst>
            <p14:sldId id="258"/>
          </p14:sldIdLst>
        </p14:section>
        <p14:section name="Yourbea" id="{b3a5febd-2b1a-5c96-524b-13585b6c80f4}">
          <p14:sldIdLst>
            <p14:sldId id="259"/>
          </p14:sldIdLst>
        </p14:section>
        <p14:section name="A che punto siamo" id="{691a9447-6195-c818-a125-9c9f493ef7bb}">
          <p14:sldIdLst>
            <p14:sldId id="260"/>
          </p14:sldIdLst>
        </p14:section>
        <p14:section name="La proposta" id="{338fcce9-ec2b-208d-5459-13dd1f528d98}">
          <p14:sldIdLst>
            <p14:sldId id="261"/>
            <p14:sldId id="262"/>
            <p14:sldId id="263"/>
            <p14:sldId id="264"/>
          </p14:sldIdLst>
        </p14:section>
        <p14:section name="Come funziona" id="{6bec2ab3-942f-49f3-ecbc-8bfab680a639}">
          <p14:sldIdLst>
            <p14:sldId id="265"/>
            <p14:sldId id="266"/>
          </p14:sldIdLst>
        </p14:section>
        <p14:section name="Chiusura" id="{c7797a13-0efe-40bd-2a30-9e2043d2d6aa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 presento in trenta secondi. Yourbea non è un prodotto che vengo a vendervi: è un progetto di città, e la prima cosa che fa è mettere sulla mappa quello che oggi non c’è.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slide da non sbagliare: sono due cose distinte. La mappa è il motivo per cui un Comune ci apre la porta; il racconto d’arte è il motivo per cui il progetto sta in piedi da solo.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Questo è il punto da cui parte tutto: il dato non esiste, e non esiste perché raccoglierlo a mano costa.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conviene farlo sentire: aprire l’app e dire una di queste frasi davanti a loro.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prima è la più importante, e va detta per prima senza giri di parole: serve un contributo per partire.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chiedono «e se non comprano?»: si misura in un mese, e il contributo è per partire, non ricorrente.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Chiudere facendogliela provare lì, in corridoio. È l’unica dimostrazione che conta.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ERTURA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24028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yourbea.it · info@yourbea.it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Yourbea · Arte Inclusiva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6263640"/>
            <a:ext cx="5029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E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URA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Yourbea · Arte Inclusiva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E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E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TURISMO PER TUTTI · ARTE INCLUSIVA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822960" y="224028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Il primo Comune a misura di chi non vede</a:t>
            </a:r>
            <a:endParaRPr lang="en-US" dirty="0"/>
          </a:p>
        </p:txBody>
      </p:sp>
      <p:sp>
        <p:nvSpPr>
          <p:cNvPr id="4" name="Text 2"/>
          <p:cNvSpPr/>
          <p:nvPr>
            <p:ph hasCustomPrompt="1"/>
          </p:nvPr>
        </p:nvSpPr>
        <p:spPr>
          <a:xfrm>
            <a:off x="822960" y="365760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Una proposta all’Unione Italiana dei Ciechi e degli Ipovedenti</a:t>
            </a:r>
            <a:endParaRPr lang="en-US" dirty="0"/>
          </a:p>
          <a:p>
            <a:pPr indent="0" marL="0">
              <a:buNone/>
            </a:pPr>
            <a:r>
              <a:rPr lang="en-US" dirty="0"/>
              <a:t>e all’Assessorato alle Politiche Sociali · Roma, ottobre 2026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Due progetti, una sola applicazione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6BECF"/>
                </a:solidFill>
              </a:rPr>
              <a:t>Vanno tenuti distinti, perché parlano a persone diverse. Ma si reggono a vicenda.</a:t>
            </a:r>
            <a:endParaRPr lang="en-US" sz="1700" dirty="0"/>
          </a:p>
        </p:txBody>
      </p:sp>
      <p:sp>
        <p:nvSpPr>
          <p:cNvPr id="4" name="gamba arte"/>
          <p:cNvSpPr/>
          <p:nvPr/>
        </p:nvSpPr>
        <p:spPr>
          <a:xfrm>
            <a:off x="731520" y="2057400"/>
            <a:ext cx="5120640" cy="3200400"/>
          </a:xfrm>
          <a:prstGeom prst="roundRect">
            <a:avLst>
              <a:gd name="adj" fmla="val 3429"/>
            </a:avLst>
          </a:prstGeom>
          <a:solidFill>
            <a:srgbClr val="1B2942"/>
          </a:solidFill>
          <a:ln w="19050">
            <a:solidFill>
              <a:srgbClr val="E3B76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B765"/>
                </a:solidFill>
              </a:rPr>
              <a:t>ARTE INCLUSIVA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697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2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città che si racconta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29184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6BECF"/>
                </a:solidFill>
              </a:rPr>
              <a:t>Chiese, palazzi, cosa c’è dentro, chi l’ha dipinto, cosa è successo lì. La stessa voce per chi non vede e per il turista che cammina: l’arte si ascolta, non si guarda soltanto.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47091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B765"/>
                </a:solidFill>
              </a:rPr>
              <a:t>È la parte che si vende.</a:t>
            </a:r>
            <a:endParaRPr lang="en-US" sz="1500" dirty="0"/>
          </a:p>
        </p:txBody>
      </p:sp>
      <p:sp>
        <p:nvSpPr>
          <p:cNvPr id="9" name="gamba mappa"/>
          <p:cNvSpPr/>
          <p:nvPr/>
        </p:nvSpPr>
        <p:spPr>
          <a:xfrm>
            <a:off x="6309360" y="2057400"/>
            <a:ext cx="5120640" cy="3200400"/>
          </a:xfrm>
          <a:prstGeom prst="roundRect">
            <a:avLst>
              <a:gd name="adj" fmla="val 3429"/>
            </a:avLst>
          </a:prstGeom>
          <a:solidFill>
            <a:srgbClr val="1B2942"/>
          </a:solidFill>
          <a:ln w="19050">
            <a:solidFill>
              <a:srgbClr val="9BD17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D17F"/>
                </a:solidFill>
              </a:rPr>
              <a:t>LA MAPPA LA FA CHI CI CAMMINA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697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2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Tutti mappano, per chi non vede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329184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6BECF"/>
                </a:solidFill>
              </a:rPr>
              <a:t>Chiunque cammini — cieco o vedente — può dire a voce cosa incontra: semafori acustici, percorsi tattili, attraversamenti, ostacoli. La città diventa percorribile perché la segnano le persone che la attraversano.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47091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D17F"/>
                </a:solidFill>
              </a:rPr>
              <a:t>È la parte che apre le porte.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4406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EFE6"/>
                </a:solidFill>
              </a:rPr>
              <a:t>La mappa è di tutti e non si vende: è quella che fa entrare Yourbea in una città. Il racconto d’arte è quello che la mantiene in piedi.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E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Un semaforo acustico non sta in nessuna mappa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</a:rPr>
              <a:t>Né su Google Maps, né su OpenStreetMap, né negli archivi dei Comuni.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6454F"/>
                </a:solidFill>
              </a:rPr>
              <a:t>Dove ci sono, sono elenchi di delibere: non posizioni verificate sul posto.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514600"/>
            <a:ext cx="5120640" cy="3017520"/>
          </a:xfrm>
          <a:prstGeom prst="roundRect">
            <a:avLst>
              <a:gd name="adj" fmla="val 3636"/>
            </a:avLst>
          </a:prstGeom>
          <a:solidFill>
            <a:srgbClr val="F4F6FA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788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chi non vede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246120"/>
            <a:ext cx="4526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</a:rPr>
              <a:t>Nessuna applicazione di navigazione può dire «all’incrocio c’è l’attraversamento col semaforo acustico»: quel dato non esiste in forma utilizzabile.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2514600"/>
            <a:ext cx="5120640" cy="3017520"/>
          </a:xfrm>
          <a:prstGeom prst="roundRect">
            <a:avLst>
              <a:gd name="adj" fmla="val 3636"/>
            </a:avLst>
          </a:prstGeom>
          <a:solidFill>
            <a:srgbClr val="F4F6FA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2788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il Comune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3246120"/>
            <a:ext cx="4526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</a:rPr>
              <a:t>Il censimento delle barriere architettoniche, che la legge impone dagli anni Ottanta, costa decine di migliaia di euro ogni volta che si rifà: servono rilevatori che percorrano le strade una per una.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E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Si risolve camminando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EFE6"/>
                </a:solidFill>
              </a:rPr>
              <a:t>Mentre una persona cieca cammina e ascolta, può dire a voce quello che incontra. Quel dato entra nella mappa di tutti.</a:t>
            </a:r>
            <a:endParaRPr lang="en-US" sz="1800" dirty="0"/>
          </a:p>
        </p:txBody>
      </p:sp>
      <p:sp>
        <p:nvSpPr>
          <p:cNvPr id="4" name="frase 1"/>
          <p:cNvSpPr/>
          <p:nvPr/>
        </p:nvSpPr>
        <p:spPr>
          <a:xfrm>
            <a:off x="731520" y="2377440"/>
            <a:ext cx="10515600" cy="658368"/>
          </a:xfrm>
          <a:prstGeom prst="roundRect">
            <a:avLst>
              <a:gd name="adj" fmla="val 13889"/>
            </a:avLst>
          </a:prstGeom>
          <a:solidFill>
            <a:srgbClr val="1B29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237744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3B765"/>
                </a:solidFill>
              </a:rPr>
              <a:t>«Yourbea, qui c’è un attraversamento con semaforo acustico»</a:t>
            </a:r>
            <a:endParaRPr lang="en-US" sz="1800" dirty="0"/>
          </a:p>
        </p:txBody>
      </p:sp>
      <p:sp>
        <p:nvSpPr>
          <p:cNvPr id="6" name="frase 2"/>
          <p:cNvSpPr/>
          <p:nvPr/>
        </p:nvSpPr>
        <p:spPr>
          <a:xfrm>
            <a:off x="731520" y="3246120"/>
            <a:ext cx="10515600" cy="658368"/>
          </a:xfrm>
          <a:prstGeom prst="roundRect">
            <a:avLst>
              <a:gd name="adj" fmla="val 13889"/>
            </a:avLst>
          </a:prstGeom>
          <a:solidFill>
            <a:srgbClr val="1B294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324612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3B765"/>
                </a:solidFill>
              </a:rPr>
              <a:t>«qui c’è il percorso tattile»</a:t>
            </a:r>
            <a:endParaRPr lang="en-US" sz="1800" dirty="0"/>
          </a:p>
        </p:txBody>
      </p:sp>
      <p:sp>
        <p:nvSpPr>
          <p:cNvPr id="8" name="frase 3"/>
          <p:cNvSpPr/>
          <p:nvPr/>
        </p:nvSpPr>
        <p:spPr>
          <a:xfrm>
            <a:off x="731520" y="4114800"/>
            <a:ext cx="10515600" cy="658368"/>
          </a:xfrm>
          <a:prstGeom prst="roundRect">
            <a:avLst>
              <a:gd name="adj" fmla="val 13889"/>
            </a:avLst>
          </a:prstGeom>
          <a:solidFill>
            <a:srgbClr val="1B29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411480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3B765"/>
                </a:solidFill>
              </a:rPr>
              <a:t>«qui non ci sono le strisce»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120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BECF"/>
                </a:solidFill>
              </a:rPr>
              <a:t>Nessun modulo, nessuno schermo da guardare, niente da imparare. Si parla, e l’app ripete sempre quello che ha capito.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E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Non è un’idea su carta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0" y="6263640"/>
            <a:ext cx="5029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I numeri sono del 27 ottobre 2026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0B1424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488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3B7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24.966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632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EFE6"/>
                </a:solidFill>
              </a:rPr>
              <a:t>luoghi già raccontati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2EFE6"/>
                </a:solidFill>
              </a:rPr>
              <a:t>in tutta Italia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182880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0B1424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21488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79D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3.038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30632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EFE6"/>
                </a:solidFill>
              </a:rPr>
              <a:t>a Roma dentro il Raccordo,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2EFE6"/>
                </a:solidFill>
              </a:rPr>
              <a:t>2.141 con una scheda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0B1424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21488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BD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0632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EFE6"/>
                </a:solidFill>
              </a:rPr>
              <a:t>persone che la provano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2EFE6"/>
                </a:solidFill>
              </a:rPr>
              <a:t>camminando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0" y="182880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0B1424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0" y="21488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9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16,7 km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30632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EFE6"/>
                </a:solidFill>
              </a:rPr>
              <a:t>camminati e registrati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2EFE6"/>
                </a:solidFill>
              </a:rPr>
              <a:t>nelle prove vere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</a:rPr>
              <a:t>Parla italiano, inglese, spagnolo e francese. </a:t>
            </a:r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</a:rPr>
              <a:t>Funziona senza rete. </a:t>
            </a:r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</a:rPr>
              <a:t>Non manda a nessun server la posizione di chi cammina. </a:t>
            </a:r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</a:rPr>
              <a:t>Per chi ha VoiceOver attivo è gratis anche la parte turistica.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E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All’UICI chiediamo le persone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6454F"/>
                </a:solidFill>
              </a:rPr>
              <a:t>Non soldi, non una convenzione: proporre Yourbea ai soci che vogliano provarla nel proprio quartiere, e dirci cosa non va.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5120640" cy="3200400"/>
          </a:xfrm>
          <a:prstGeom prst="roundRect">
            <a:avLst>
              <a:gd name="adj" fmla="val 3429"/>
            </a:avLst>
          </a:prstGeom>
          <a:solidFill>
            <a:srgbClr val="F4F6FA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riceve il socio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017520"/>
            <a:ext cx="4526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L’applicazione, gratis e per sempre, senza installare niente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Un collegamento personale che lo riconosce come rilevatore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L’ascolto: ogni difetto segnalato diventa una correzione in giornata — è andata così con tutti e otto i tester di adesso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2286000"/>
            <a:ext cx="5120640" cy="3200400"/>
          </a:xfrm>
          <a:prstGeom prst="roundRect">
            <a:avLst>
              <a:gd name="adj" fmla="val 3429"/>
            </a:avLst>
          </a:prstGeom>
          <a:solidFill>
            <a:srgbClr val="F4F6FA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riceve la sezione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3017520"/>
            <a:ext cx="4526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I dati raccolti dai propri soci, a disposizione della sezione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Un’attività che si fa da soli, ciascuno nel suo quartiere, senza spostamenti e senza orari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La possibilità di dire al Comune, con numeri alla mano, dove la città non è percorribile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E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Al Comune chiediamo quattro cose</a:t>
            </a:r>
            <a:endParaRPr lang="en-US" dirty="0"/>
          </a:p>
        </p:txBody>
      </p:sp>
      <p:sp>
        <p:nvSpPr>
          <p:cNvPr id="3" name="pallino 1"/>
          <p:cNvSpPr/>
          <p:nvPr/>
        </p:nvSpPr>
        <p:spPr>
          <a:xfrm>
            <a:off x="777240" y="1508760"/>
            <a:ext cx="475488" cy="475488"/>
          </a:xfrm>
          <a:prstGeom prst="ellipse">
            <a:avLst/>
          </a:prstGeom>
          <a:solidFill>
            <a:srgbClr val="E3B76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424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4630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3B7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contributo per il progetto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85623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6BECF"/>
                </a:solidFill>
              </a:rPr>
              <a:t>Copre la rilevazione e lo sviluppo sul territorio. L’importo è commisurato all’area scelta.</a:t>
            </a:r>
            <a:endParaRPr lang="en-US" sz="1400" dirty="0"/>
          </a:p>
        </p:txBody>
      </p:sp>
      <p:sp>
        <p:nvSpPr>
          <p:cNvPr id="7" name="pallino 2"/>
          <p:cNvSpPr/>
          <p:nvPr/>
        </p:nvSpPr>
        <p:spPr>
          <a:xfrm>
            <a:off x="777240" y="2679192"/>
            <a:ext cx="475488" cy="475488"/>
          </a:xfrm>
          <a:prstGeom prst="ellipse">
            <a:avLst/>
          </a:prstGeom>
          <a:solidFill>
            <a:srgbClr val="6D7E9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679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424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6334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patrocinio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02666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6BECF"/>
                </a:solidFill>
              </a:rPr>
              <a:t>Il permesso di dire che ARTE INCLUSIVA si fa insieme.</a:t>
            </a:r>
            <a:endParaRPr lang="en-US" sz="1400" dirty="0"/>
          </a:p>
        </p:txBody>
      </p:sp>
      <p:sp>
        <p:nvSpPr>
          <p:cNvPr id="11" name="pallino 3"/>
          <p:cNvSpPr/>
          <p:nvPr/>
        </p:nvSpPr>
        <p:spPr>
          <a:xfrm>
            <a:off x="777240" y="3849624"/>
            <a:ext cx="475488" cy="475488"/>
          </a:xfrm>
          <a:prstGeom prst="ellipse">
            <a:avLst/>
          </a:prstGeom>
          <a:solidFill>
            <a:srgbClr val="6D7E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849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424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80390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quartiere su cui partire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19709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6BECF"/>
                </a:solidFill>
              </a:rPr>
              <a:t>Lo scegliete voi.</a:t>
            </a:r>
            <a:endParaRPr lang="en-US" sz="1400" dirty="0"/>
          </a:p>
        </p:txBody>
      </p:sp>
      <p:sp>
        <p:nvSpPr>
          <p:cNvPr id="15" name="pallino 4"/>
          <p:cNvSpPr/>
          <p:nvPr/>
        </p:nvSpPr>
        <p:spPr>
          <a:xfrm>
            <a:off x="777240" y="5020056"/>
            <a:ext cx="475488" cy="475488"/>
          </a:xfrm>
          <a:prstGeom prst="ellipse">
            <a:avLst/>
          </a:prstGeom>
          <a:solidFill>
            <a:srgbClr val="6D7E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5020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424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9743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Gli elenchi che già avete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3675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6BECF"/>
                </a:solidFill>
              </a:rPr>
              <a:t>Semafori acustici, percorsi tattili, lavori in corso: per non far rilevare a mano ciò che è già scritto.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E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I turisti pagano il servizio che resta gratuito ai ciechi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6454F"/>
                </a:solidFill>
              </a:rPr>
              <a:t>E questo non costa niente al Comune.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120640" cy="2926080"/>
          </a:xfrm>
          <a:prstGeom prst="roundRect">
            <a:avLst>
              <a:gd name="adj" fmla="val 3750"/>
            </a:avLst>
          </a:prstGeom>
          <a:solidFill>
            <a:srgbClr val="0B1424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BD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chi non vede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7889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2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gratis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657600"/>
            <a:ext cx="4526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6BECF"/>
                </a:solidFill>
              </a:rPr>
              <a:t>per sempre, guida e racconto. E chi ha VoiceOver acceso ha gratis anche il turismo: lo capisce il telefono, non c’è niente da dimostrare.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2057400"/>
            <a:ext cx="5120640" cy="2926080"/>
          </a:xfrm>
          <a:prstGeom prst="roundRect">
            <a:avLst>
              <a:gd name="adj" fmla="val 3750"/>
            </a:avLst>
          </a:prstGeom>
          <a:solidFill>
            <a:srgbClr val="0B1424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3B7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il visitatore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7889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2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4,99 €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3657600"/>
            <a:ext cx="4526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6BECF"/>
                </a:solidFill>
              </a:rPr>
              <a:t>per sette giorni di racconto d’arte, in quattro lingue. Non si rinnova da solo.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2578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24"/>
                </a:solidFill>
              </a:rPr>
              <a:t>Al Comune chiediamo solo di farla conoscere: portale del turismo, Pro Loco, punti informativi, musei civici. Canali che ha già.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E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Due visitatori su mille, e il progetto si paga da sé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0" y="6263640"/>
            <a:ext cx="5029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Presenze ISTAT 2024. Su un pass da 4,99 €, tolta l’IVA e la trattenuta dello store, restano 3,48 €.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24"/>
                </a:solidFill>
              </a:rPr>
              <a:t>Roma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651760" y="1600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42,7 mln di presenze all’anno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~350.000 visitatori a settimana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58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24"/>
                </a:solidFill>
              </a:rPr>
              <a:t>Venezia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2585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13,3 mln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2585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~110.000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9169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24"/>
                </a:solidFill>
              </a:rPr>
              <a:t>Firenze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9169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9,2 mln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9169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~80.000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10698480" cy="1783080"/>
          </a:xfrm>
          <a:prstGeom prst="roundRect">
            <a:avLst>
              <a:gd name="adj" fmla="val 6154"/>
            </a:avLst>
          </a:prstGeom>
          <a:solidFill>
            <a:srgbClr val="0B1424"/>
          </a:solidFill>
          <a:ln w="19050">
            <a:solidFill>
              <a:srgbClr val="E3B76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BECF"/>
                </a:solidFill>
              </a:rPr>
              <a:t>Su Roma, se compra lo 0,2% dei visitatori: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3891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2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700 pass a settimana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937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B765"/>
                </a:solidFill>
              </a:rPr>
              <a:t>≈ 127.000 € netti all’anno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42062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FE6"/>
                </a:solidFill>
              </a:rPr>
              <a:t>E non è una previsione da credere sulla fiducia: si accende la promozione, si contano i pass, e in un mese il numero è lì.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6692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24"/>
                </a:solidFill>
              </a:rPr>
              <a:t>Per questo chiediamo un contributo per partire, non un impegno di spesa che torna ogni anno.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E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Tre mesi, e poi si decide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F4F6FA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4" name="tappa 1"/>
          <p:cNvSpPr/>
          <p:nvPr/>
        </p:nvSpPr>
        <p:spPr>
          <a:xfrm>
            <a:off x="1051560" y="2011680"/>
            <a:ext cx="457200" cy="457200"/>
          </a:xfrm>
          <a:prstGeom prst="ellipse">
            <a:avLst/>
          </a:prstGeom>
          <a:solidFill>
            <a:srgbClr val="0B142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1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606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Primo mese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0632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</a:rPr>
              <a:t>Dieci soci UICI che accettano. Un incontro di mezz’ora: non c’è niente da imparare, si apre un collegamento e si cammina. Noi guardiamo ogni giorno cosa non ha funzionato e correggiamo.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9120" y="173736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F4F6FA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9" name="tappa 2"/>
          <p:cNvSpPr/>
          <p:nvPr/>
        </p:nvSpPr>
        <p:spPr>
          <a:xfrm>
            <a:off x="4709160" y="2011680"/>
            <a:ext cx="457200" cy="457200"/>
          </a:xfrm>
          <a:prstGeom prst="ellipse">
            <a:avLst/>
          </a:prstGeom>
          <a:solidFill>
            <a:srgbClr val="0B14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091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2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606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secondo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0632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</a:rPr>
              <a:t>Le persone camminano nel proprio quartiere e segnano quello che trovano. Ogni mese un foglio a UICI e Assessorato: quanti punti nuovi, dove, quanti confermati da più persone.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173736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F4F6FA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4" name="tappa 3"/>
          <p:cNvSpPr/>
          <p:nvPr/>
        </p:nvSpPr>
        <p:spPr>
          <a:xfrm>
            <a:off x="8366760" y="2011680"/>
            <a:ext cx="457200" cy="457200"/>
          </a:xfrm>
          <a:prstGeom prst="ellipse">
            <a:avLst/>
          </a:prstGeom>
          <a:solidFill>
            <a:srgbClr val="E3B76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67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424"/>
                </a:solidFill>
              </a:rPr>
              <a:t>3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606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Alla fine del terzo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0632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</a:rPr>
              <a:t>Un documento che dice, strada per strada, cosa c’è e cosa manca nel quartiere scelto. Se il lavoro ha senso si allarga; se non ce l’ha, si è speso soltanto del tempo.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E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I dati, e di chi sono</a:t>
            </a:r>
            <a:endParaRPr lang="en-US" dirty="0"/>
          </a:p>
        </p:txBody>
      </p:sp>
      <p:sp>
        <p:nvSpPr>
          <p:cNvPr id="3" name="segno 1"/>
          <p:cNvSpPr/>
          <p:nvPr/>
        </p:nvSpPr>
        <p:spPr>
          <a:xfrm>
            <a:off x="777240" y="1645920"/>
            <a:ext cx="384048" cy="384048"/>
          </a:xfrm>
          <a:prstGeom prst="ellipse">
            <a:avLst/>
          </a:prstGeom>
          <a:solidFill>
            <a:srgbClr val="0B142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17320" y="160020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424"/>
                </a:solidFill>
              </a:rPr>
              <a:t>La posizione di chi cammina non si salva da nessuna parte.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20116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Resta nel telefono. Non arriva a noi.</a:t>
            </a:r>
            <a:endParaRPr lang="en-US" sz="1400" dirty="0"/>
          </a:p>
        </p:txBody>
      </p:sp>
      <p:sp>
        <p:nvSpPr>
          <p:cNvPr id="6" name="segno 2"/>
          <p:cNvSpPr/>
          <p:nvPr/>
        </p:nvSpPr>
        <p:spPr>
          <a:xfrm>
            <a:off x="777240" y="2761488"/>
            <a:ext cx="384048" cy="384048"/>
          </a:xfrm>
          <a:prstGeom prst="ellipse">
            <a:avLst/>
          </a:prstGeom>
          <a:solidFill>
            <a:srgbClr val="0B142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271576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424"/>
                </a:solidFill>
              </a:rPr>
              <a:t>Quello che si segna a voce diventa un punto sulla mappa comune.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12724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Cosa c’è e dove, non chi l’ha detto.</a:t>
            </a:r>
            <a:endParaRPr lang="en-US" sz="1400" dirty="0"/>
          </a:p>
        </p:txBody>
      </p:sp>
      <p:sp>
        <p:nvSpPr>
          <p:cNvPr id="9" name="segno 3"/>
          <p:cNvSpPr/>
          <p:nvPr/>
        </p:nvSpPr>
        <p:spPr>
          <a:xfrm>
            <a:off x="777240" y="3877056"/>
            <a:ext cx="384048" cy="384048"/>
          </a:xfrm>
          <a:prstGeom prst="ellipse">
            <a:avLst/>
          </a:prstGeom>
          <a:solidFill>
            <a:srgbClr val="0B14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7320" y="383133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424"/>
                </a:solidFill>
              </a:rPr>
              <a:t>I dati del quartiere sono a disposizione di UICI e Comune.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424281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Senza chiedere il permesso a nessuno.</a:t>
            </a:r>
            <a:endParaRPr lang="en-US" sz="1400" dirty="0"/>
          </a:p>
        </p:txBody>
      </p:sp>
      <p:sp>
        <p:nvSpPr>
          <p:cNvPr id="12" name="segno 4"/>
          <p:cNvSpPr/>
          <p:nvPr/>
        </p:nvSpPr>
        <p:spPr>
          <a:xfrm>
            <a:off x="777240" y="4992624"/>
            <a:ext cx="384048" cy="384048"/>
          </a:xfrm>
          <a:prstGeom prst="ellipse">
            <a:avLst/>
          </a:prstGeom>
          <a:solidFill>
            <a:srgbClr val="0B14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417320" y="494690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424"/>
                </a:solidFill>
              </a:rPr>
              <a:t>Le fonti pubbliche sono citate e rispettate.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535838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Wikipedia, OpenStreetMap, Catalogo generale dei Beni Culturali del Ministero della Cultura.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E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SI PROVA ADESSO, CAMMINANDO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822960" y="224028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yourbea.it</a:t>
            </a:r>
            <a:endParaRPr lang="en-US" dirty="0"/>
          </a:p>
        </p:txBody>
      </p:sp>
      <p:sp>
        <p:nvSpPr>
          <p:cNvPr id="4" name="Text 2"/>
          <p:cNvSpPr/>
          <p:nvPr>
            <p:ph hasCustomPrompt="1"/>
          </p:nvPr>
        </p:nvSpPr>
        <p:spPr>
          <a:xfrm>
            <a:off x="822960" y="365760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Si apre dal telefono, subito, senza installare niente.</a:t>
            </a:r>
            <a:endParaRPr lang="en-US" dirty="0"/>
          </a:p>
          <a:p>
            <a:pPr indent="0" marL="0">
              <a:buNone/>
            </a:pPr>
            <a:r>
              <a:rPr lang="en-US" dirty="0"/>
              <a:t>Chi legge questa pagina può provarla fino alla fine della strada.</a:t>
            </a:r>
            <a:endParaRPr lang="en-US" dirty="0"/>
          </a:p>
          <a:p>
            <a:pPr indent="0" marL="0">
              <a:buNone/>
            </a:pPr>
            <a:endParaRPr lang="en-US" dirty="0"/>
          </a:p>
          <a:p>
            <a:pPr indent="0" marL="0">
              <a:buNone/>
            </a:pPr>
            <a:r>
              <a:rPr lang="en-US" dirty="0"/>
              <a:t>Vincenzo Di Meglio · info@yourbea.it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ourbea Arte Inclusiva">
  <a:themeElements>
    <a:clrScheme name="Yourbea Arte Inclusiva">
      <a:dk1>
        <a:srgbClr val="0B1424"/>
      </a:dk1>
      <a:lt1>
        <a:srgbClr val="FFFFFF"/>
      </a:lt1>
      <a:dk2>
        <a:srgbClr val="1B2942"/>
      </a:dk2>
      <a:lt2>
        <a:srgbClr val="F2EFE6"/>
      </a:lt2>
      <a:accent1>
        <a:srgbClr val="E3B765"/>
      </a:accent1>
      <a:accent2>
        <a:srgbClr val="79D8F7"/>
      </a:accent2>
      <a:accent3>
        <a:srgbClr val="9BD17F"/>
      </a:accent3>
      <a:accent4>
        <a:srgbClr val="FF9D5C"/>
      </a:accent4>
      <a:accent5>
        <a:srgbClr val="B6BECF"/>
      </a:accent5>
      <a:accent6>
        <a:srgbClr val="6D7E99"/>
      </a:accent6>
      <a:hlink>
        <a:srgbClr val="79D8F7"/>
      </a:hlink>
      <a:folHlink>
        <a:srgbClr val="B6BECF"/>
      </a:folHlink>
    </a:clrScheme>
    <a:fontScheme name="Yourbea Arte Inclusiv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Yourbea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ARTE INCLUSIVA</dc:title>
  <dc:subject>Arte Inclusiva</dc:subject>
  <dc:creator>Vincenzo Di Meglio</dc:creator>
  <cp:lastModifiedBy>Vincenzo Di Meglio</cp:lastModifiedBy>
  <cp:revision>1</cp:revision>
  <dcterms:created xsi:type="dcterms:W3CDTF">2026-10-27T07:44:26Z</dcterms:created>
  <dcterms:modified xsi:type="dcterms:W3CDTF">2026-10-27T07:44:26Z</dcterms:modified>
</cp:coreProperties>
</file>